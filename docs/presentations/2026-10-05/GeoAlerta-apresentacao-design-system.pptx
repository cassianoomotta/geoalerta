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ff34197bf4a80" /><Relationship Type="http://schemas.openxmlformats.org/officeDocument/2006/relationships/extended-properties" Target="/docProps/app.xml" Id="Rcd9fcc47b52d4d0d" /><Relationship Type="http://schemas.openxmlformats.org/officeDocument/2006/relationships/officeDocument" Target="/ppt/presentation.xml" Id="R30a6c9d1e48a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c5dcbb49ef4fb5"/>
  </p:sldMasterIdLst>
  <p:notesMasterIdLst>
    <p:notesMasterId xmlns:r="http://schemas.openxmlformats.org/officeDocument/2006/relationships" r:id="R21931f349d1447a6"/>
  </p:notesMasterIdLst>
  <p:sldIdLst>
    <p:sldId xmlns:r="http://schemas.openxmlformats.org/officeDocument/2006/relationships" id="256" r:id="Rfbe588583c3846c2"/>
    <p:sldId xmlns:r="http://schemas.openxmlformats.org/officeDocument/2006/relationships" id="257" r:id="R5cab859d61b44367"/>
    <p:sldId xmlns:r="http://schemas.openxmlformats.org/officeDocument/2006/relationships" id="258" r:id="R7015b0d1f2b34a61"/>
    <p:sldId xmlns:r="http://schemas.openxmlformats.org/officeDocument/2006/relationships" id="259" r:id="R41ac50e8b77048c0"/>
    <p:sldId xmlns:r="http://schemas.openxmlformats.org/officeDocument/2006/relationships" id="260" r:id="Rd3a59bcb5c3f489d"/>
    <p:sldId xmlns:r="http://schemas.openxmlformats.org/officeDocument/2006/relationships" id="261" r:id="R858c9fa159f54de0"/>
    <p:sldId xmlns:r="http://schemas.openxmlformats.org/officeDocument/2006/relationships" id="262" r:id="R665257379f044d71"/>
    <p:sldId xmlns:r="http://schemas.openxmlformats.org/officeDocument/2006/relationships" id="263" r:id="Re33e989331164855"/>
    <p:sldId xmlns:r="http://schemas.openxmlformats.org/officeDocument/2006/relationships" id="264" r:id="R92298a2db599471e"/>
    <p:sldId xmlns:r="http://schemas.openxmlformats.org/officeDocument/2006/relationships" id="265" r:id="R78829a3e88e34883"/>
    <p:sldId xmlns:r="http://schemas.openxmlformats.org/officeDocument/2006/relationships" id="266" r:id="Rf7ed0c37b9e2437d"/>
    <p:sldId xmlns:r="http://schemas.openxmlformats.org/officeDocument/2006/relationships" id="267" r:id="Re221540f74d0477d"/>
    <p:sldId xmlns:r="http://schemas.openxmlformats.org/officeDocument/2006/relationships" id="268" r:id="R699182b9c980494d"/>
    <p:sldId xmlns:r="http://schemas.openxmlformats.org/officeDocument/2006/relationships" id="269" r:id="Rad81f4b586e343e0"/>
    <p:sldId xmlns:r="http://schemas.openxmlformats.org/officeDocument/2006/relationships" id="270" r:id="R71861651ed8147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f7dc95c86b443c" /><Relationship Type="http://schemas.openxmlformats.org/officeDocument/2006/relationships/slideMaster" Target="/ppt/slideMasters/slideMaster1.xml" Id="R29c5dcbb49ef4fb5" /><Relationship Type="http://schemas.openxmlformats.org/officeDocument/2006/relationships/notesMaster" Target="/ppt/notesMasters/notesMaster1.xml" Id="R21931f349d1447a6" /><Relationship Type="http://schemas.openxmlformats.org/officeDocument/2006/relationships/presProps" Target="/ppt/presProps.xml" Id="R39c9c4c84a704963" /><Relationship Type="http://schemas.openxmlformats.org/officeDocument/2006/relationships/tableStyles" Target="/ppt/tableStyles.xml" Id="Rcd492b5f3fc44d92" /><Relationship Type="http://schemas.openxmlformats.org/officeDocument/2006/relationships/slide" Target="/ppt/slides/slide1.xml" Id="Rfbe588583c3846c2" /><Relationship Type="http://schemas.openxmlformats.org/officeDocument/2006/relationships/slide" Target="/ppt/slides/slide2.xml" Id="R5cab859d61b44367" /><Relationship Type="http://schemas.openxmlformats.org/officeDocument/2006/relationships/slide" Target="/ppt/slides/slide3.xml" Id="R7015b0d1f2b34a61" /><Relationship Type="http://schemas.openxmlformats.org/officeDocument/2006/relationships/slide" Target="/ppt/slides/slide4.xml" Id="R41ac50e8b77048c0" /><Relationship Type="http://schemas.openxmlformats.org/officeDocument/2006/relationships/slide" Target="/ppt/slides/slide5.xml" Id="Rd3a59bcb5c3f489d" /><Relationship Type="http://schemas.openxmlformats.org/officeDocument/2006/relationships/slide" Target="/ppt/slides/slide6.xml" Id="R858c9fa159f54de0" /><Relationship Type="http://schemas.openxmlformats.org/officeDocument/2006/relationships/slide" Target="/ppt/slides/slide7.xml" Id="R665257379f044d71" /><Relationship Type="http://schemas.openxmlformats.org/officeDocument/2006/relationships/slide" Target="/ppt/slides/slide8.xml" Id="Re33e989331164855" /><Relationship Type="http://schemas.openxmlformats.org/officeDocument/2006/relationships/slide" Target="/ppt/slides/slide9.xml" Id="R92298a2db599471e" /><Relationship Type="http://schemas.openxmlformats.org/officeDocument/2006/relationships/slide" Target="/ppt/slides/slide10.xml" Id="R78829a3e88e34883" /><Relationship Type="http://schemas.openxmlformats.org/officeDocument/2006/relationships/slide" Target="/ppt/slides/slide11.xml" Id="Rf7ed0c37b9e2437d" /><Relationship Type="http://schemas.openxmlformats.org/officeDocument/2006/relationships/slide" Target="/ppt/slides/slide12.xml" Id="Re221540f74d0477d" /><Relationship Type="http://schemas.openxmlformats.org/officeDocument/2006/relationships/slide" Target="/ppt/slides/slide13.xml" Id="R699182b9c980494d" /><Relationship Type="http://schemas.openxmlformats.org/officeDocument/2006/relationships/slide" Target="/ppt/slides/slide14.xml" Id="Rad81f4b586e343e0" /><Relationship Type="http://schemas.openxmlformats.org/officeDocument/2006/relationships/slide" Target="/ppt/slides/slide15.xml" Id="R71861651ed81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042cbafb1246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GeoAlerta Design System 1.0">
      <a:dk1>
        <a:srgbClr val="243746"/>
      </a:dk1>
      <a:lt1>
        <a:srgbClr val="FFFFFF"/>
      </a:lt1>
      <a:dk2>
        <a:srgbClr val="536671"/>
      </a:dk2>
      <a:lt2>
        <a:srgbClr val="F5F7F6"/>
      </a:lt2>
      <a:accent1>
        <a:srgbClr val="087580"/>
      </a:accent1>
      <a:accent2>
        <a:srgbClr val="A83F3F"/>
      </a:accent2>
      <a:accent3>
        <a:srgbClr val="315E89"/>
      </a:accent3>
      <a:accent4>
        <a:srgbClr val="875B17"/>
      </a:accent4>
      <a:accent5>
        <a:srgbClr val="28664C"/>
      </a:accent5>
      <a:accent6>
        <a:srgbClr val="536671"/>
      </a:accent6>
      <a:hlink>
        <a:srgbClr val="087580"/>
      </a:hlink>
      <a:folHlink>
        <a:srgbClr val="06616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Alerta Design System 1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262c1a31b54c34" /><Relationship Type="http://schemas.openxmlformats.org/officeDocument/2006/relationships/notesMaster" Target="/ppt/notesMasters/notesMaster1.xml" Id="R5c5a337e7dd64e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31cdff96340c3" /><Relationship Type="http://schemas.openxmlformats.org/officeDocument/2006/relationships/notesMaster" Target="/ppt/notesMasters/notesMaster1.xml" Id="Racde1f565119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f1eb279e6c460d" /><Relationship Type="http://schemas.openxmlformats.org/officeDocument/2006/relationships/notesMaster" Target="/ppt/notesMasters/notesMaster1.xml" Id="Rd7c9e56a730442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15ce173514460" /><Relationship Type="http://schemas.openxmlformats.org/officeDocument/2006/relationships/notesMaster" Target="/ppt/notesMasters/notesMaster1.xml" Id="Re2a21c596b3248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9cc6942a2942c3" /><Relationship Type="http://schemas.openxmlformats.org/officeDocument/2006/relationships/notesMaster" Target="/ppt/notesMasters/notesMaster1.xml" Id="Rabdd7deddf5445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e78f490ab340a3" /><Relationship Type="http://schemas.openxmlformats.org/officeDocument/2006/relationships/notesMaster" Target="/ppt/notesMasters/notesMaster1.xml" Id="R21e21c304d0842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c9c8b194da4bcb" /><Relationship Type="http://schemas.openxmlformats.org/officeDocument/2006/relationships/notesMaster" Target="/ppt/notesMasters/notesMaster1.xml" Id="R2eab8d13872d4b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5c2b849ffe4ad8" /><Relationship Type="http://schemas.openxmlformats.org/officeDocument/2006/relationships/notesMaster" Target="/ppt/notesMasters/notesMaster1.xml" Id="Rf0a6576e22de4f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0bc2195cda4ca3" /><Relationship Type="http://schemas.openxmlformats.org/officeDocument/2006/relationships/notesMaster" Target="/ppt/notesMasters/notesMaster1.xml" Id="R23ed146e1bb34b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e3096c76cd4266" /><Relationship Type="http://schemas.openxmlformats.org/officeDocument/2006/relationships/notesMaster" Target="/ppt/notesMasters/notesMaster1.xml" Id="R89ae7a2752c84e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ac520a592442d7" /><Relationship Type="http://schemas.openxmlformats.org/officeDocument/2006/relationships/notesMaster" Target="/ppt/notesMasters/notesMaster1.xml" Id="R879d8181c5674c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8668f143e94b84" /><Relationship Type="http://schemas.openxmlformats.org/officeDocument/2006/relationships/notesMaster" Target="/ppt/notesMasters/notesMaster1.xml" Id="R4057d41dc16d40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d309320c594eaf" /><Relationship Type="http://schemas.openxmlformats.org/officeDocument/2006/relationships/notesMaster" Target="/ppt/notesMasters/notesMaster1.xml" Id="R1e16ca32d45448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794462ca5f4c3a" /><Relationship Type="http://schemas.openxmlformats.org/officeDocument/2006/relationships/notesMaster" Target="/ppt/notesMasters/notesMaster1.xml" Id="Ra667c9e3887f40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639e2e21a4469f" /><Relationship Type="http://schemas.openxmlformats.org/officeDocument/2006/relationships/notesMaster" Target="/ppt/notesMasters/notesMaster1.xml" Id="Rc2fdc642cd2e40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Abertura, cerca de 40 segundos. O GeoAlerta apoia a Defesa Civil e os Bombeiros na resposta municipal a crises climáticas. Apresente o resultado que a operação precisa alcançar. Referência de estrutura: Sequoia, Writing a Business Plan, https://sequoiacap.com/article/writing-a-business-plan. Referência de linguagem visual: Kevin Hale, How to Design a Better Pitch Deck, https://www.ycombinator.com/blog/how-to-design-a-better-pitch-deck/. A adaptação é institucional, sem alegação de vínculo ou endosso dessas organizações.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  <a:p xmlns:a="http://schemas.openxmlformats.org/drawingml/2006/main">
            <a:r>
              <a:t>
Identidade visual: docs/design-system/geoalerta-design-system.md e docs/design-system/tokens.json. Logo: docs/logo/Logo-transparent.png, fornecido pelo usuário; cores oficiais preservadas. Escala tipográfica adaptada para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um cenário operacional, sem quantificá-lo como estatística observada. A reunião descreve canais diferentes, informações incompletas e equipes distribuídas. A pressão sobre a central cresce com pedidos simultâneos e condições do território.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município considerado, com aproximadamente 50 mil habitantes, teria apenas uma linha do 193. Esse dado foi relatado na reunião e precisa ser confirmado com a operação local. Não extrapolar para outros municípios. O app oferece uma entrada adicional e não aumenta por si só a capacidade telefônica. Evite sugerir que o cidadão deve trocar os canais de emergência pelo app. A central precisa estabelecer coexistência, monitoramento e orientação.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discussão identificou como riscos operacionais demandas perdidas, pouca visibilidade, dificuldade de priorização e ausência de acompanhamento. Não houve medição da frequência desses problemas. As perguntas ajudam o público a reconhecer onde precisa validar a solução.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metáfora discutida na reunião foi vender o quadro na parede, ou seja, o resultado operacional. O produto deve permitir saber o que está acontecendo e coordenar a resposta. Menos demandas perdidas, melhor priorização e resposta mais rápida são resultados pretendidos, a validar no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Essa é a proposta de valor registrada na memória. A composição descreve o desenho da solução e seus papéis, não uma declaração de que toda a visão está pronta. O núcleo inicial reúne entrada do cidadão e gestão no painel. A atribuição e disponibilidade de equipes dependem da evolução e da validação com os usuários.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Fluxo da memória: cidadão reporta, central recebe, localiza, prioriza, atribui equipe, acompanha e encerra. A central verifica informações essenciais e possíveis duplicidades. O roadmap deve distinguir o fluxo desejado do escopo inicial. A atribuição formal de equipes e o acompanhamento em campo são evolução a validar.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Regra de negócio de AGENTS.md: o registro do cidadão deve conter latitude e longitude extraídas nativamente do dispositivo. Toda nova ocorrência deve ser verificada em relação aos polígonos de áreas de risco. A sobreposição a mancha de inundação ativa implica prioridade alta automática. A central mantém sua responsabilidade pela avaliação operacional e contextual. A representação nesta apresentação é textual, não um mapa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Visão de sala de crise derivada da memória. O mapa e os alertas visuais na plataforma apoiam o foco inicial. A visibilidade de disponibilidade de equipes, recursos e atendimentos bloqueados depende das capacidades futuras e da adoção operacional. Não apresentar essas perguntas como evidência de um dashboard completo já disponível.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Cenário sintético, sem dados reais e sem resultado comprovado. A localização e o contexto de risco apoiam a triagem. A central define prioridade e equipe conforme os critérios da operação. A capacidade de atribuir equipes e obter atualizações de campo faz parte da evolução proposta. Não inventar tempo de atendimento ou prometer resgate.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foco inicial é uma proposta de escopo, não um certificado de prontidão de todas as funções. docs/releases/core/README.md informa que a release Core é uma proposta para revisão. AGENTS.md define localização, validação geográfica, prioridade alta por mancha ativa, alertas visuais em tempo real no painel e exportação CSV local. A memória posiciona equipes, abrigos, recursos, mantimentos, voluntários, necessidades médicas e Evento/Incident como capacidades de evolução. Abrigos e módulos já existentes na base anterior não equivalem a um aceite operacional da visão nova. Nenhuma integração bidirecional com planilhas é escopo do MVP.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Indicadores sugeridos na memória, sem baseline, metas ou resultados informados. Recomenda-se observar o processo atual e comparar o piloto em cenários compatíveis. Definir coleta, responsáveis e critérios de aceite com a operação. A proposta é aprender sobre continuidade, e não declarar impacto já alcançado.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editorial do roadmap baseada nas capacidades da memória, não um cronograma aprovado. Não há datas, orçamento ou garantia de entrega. Cada etapa deve ter escopo e critério de aceite acordados com os usuários. A etapa 1 valida o núcleo. A etapa 2 aprofunda responsabilidade e continuidade. A etapa 3 integra meios de resposta. A etapa 4 conecta ocorrências em Evento/Incident para a visão da crise e análise posterior. Conectividade, responsabilidades da central e critérios de prioridade precisam ser resolvidos durante a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Visão futura do produto, não escopo entregue. A entidade Evento/Incident foi sugerida na reunião para agrupar múltiplas ocorrências em uma crise. A nomenclatura, a modelagem e os responsáveis precisam ser confirmados. A sala de crise conecta demandas, prioridades, equipes e recursos. A ambição é permitir uma resposta municipal acompanhada e aprendizado após a crise.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 institucional, sem financiamento, equipe fundadora, tração ou tamanho de mercado inventados. Proposta de próximo passo: escolher um cenário prioritário, definir responsáveis pela entrada digital e triagem, executar o fluxo completo e avaliar os indicadores. A central deve confirmar como o app e os canais existentes coexistem, bem como orientar o cidadão. Não estabelecer prazos sem acordo dos responsáveis.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62db3f18c4d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39221a8344818" /><Relationship Type="http://schemas.openxmlformats.org/officeDocument/2006/relationships/slideLayout" Target="/ppt/slideLayouts/slideLayout1.xml" Id="R3fb957207edb40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957207edb40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GeoAlerta">
      <a:dk1>
        <a:srgbClr val="102A43"/>
      </a:dk1>
      <a:lt1>
        <a:srgbClr val="FFFFFF"/>
      </a:lt1>
      <a:dk2>
        <a:srgbClr val="48616C"/>
      </a:dk2>
      <a:lt2>
        <a:srgbClr val="F5F5F0"/>
      </a:lt2>
      <a:accent1>
        <a:srgbClr val="087F8C"/>
      </a:accent1>
      <a:accent2>
        <a:srgbClr val="EF773D"/>
      </a:accent2>
      <a:accent3>
        <a:srgbClr val="102A43"/>
      </a:accent3>
      <a:accent4>
        <a:srgbClr val="AF451A"/>
      </a:accent4>
      <a:accent5>
        <a:srgbClr val="48616C"/>
      </a:accent5>
      <a:accent6>
        <a:srgbClr val="BDD4DC"/>
      </a:accent6>
      <a:hlink>
        <a:srgbClr val="087F8C"/>
      </a:hlink>
      <a:folHlink>
        <a:srgbClr val="AF451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Alert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3c9b7127a4937" /><Relationship Type="http://schemas.openxmlformats.org/officeDocument/2006/relationships/image" Target="/ppt/media/image.png" Id="R2775b02b19ec486b" /><Relationship Type="http://schemas.openxmlformats.org/officeDocument/2006/relationships/image" Target="/ppt/media/image2.png" Id="R3e62b15805d84365" /><Relationship Type="http://schemas.openxmlformats.org/officeDocument/2006/relationships/notesSlide" Target="/ppt/notesSlides/notesSlide1.xml" Id="R5fd54e6c2d7d49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d622c7b784544" /><Relationship Type="http://schemas.openxmlformats.org/officeDocument/2006/relationships/image" Target="/ppt/media/image3.png" Id="Raf09a7765cdc4bc7" /><Relationship Type="http://schemas.openxmlformats.org/officeDocument/2006/relationships/notesSlide" Target="/ppt/notesSlides/notesSlide2.xml" Id="R0f05fc06c53c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e3c89b18341e1" /><Relationship Type="http://schemas.openxmlformats.org/officeDocument/2006/relationships/image" Target="/ppt/media/image4.png" Id="Rf12695ad9a1b439a" /><Relationship Type="http://schemas.openxmlformats.org/officeDocument/2006/relationships/notesSlide" Target="/ppt/notesSlides/notesSlide3.xml" Id="Redfc29b251c145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09fd9cc62480f" /><Relationship Type="http://schemas.openxmlformats.org/officeDocument/2006/relationships/image" Target="/ppt/media/image5.png" Id="Rcec7f72a2ec6476b" /><Relationship Type="http://schemas.openxmlformats.org/officeDocument/2006/relationships/notesSlide" Target="/ppt/notesSlides/notesSlide4.xml" Id="R9c2925f5810a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a695c6ca64ecb" /><Relationship Type="http://schemas.openxmlformats.org/officeDocument/2006/relationships/image" Target="/ppt/media/image6.png" Id="R813a740bae2b40cb" /><Relationship Type="http://schemas.openxmlformats.org/officeDocument/2006/relationships/notesSlide" Target="/ppt/notesSlides/notesSlide5.xml" Id="R3d2dcfdabe3f4e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94ed16100450c" /><Relationship Type="http://schemas.openxmlformats.org/officeDocument/2006/relationships/image" Target="/ppt/media/image7.png" Id="R6b39d8072b554166" /><Relationship Type="http://schemas.openxmlformats.org/officeDocument/2006/relationships/notesSlide" Target="/ppt/notesSlides/notesSlide6.xml" Id="Rc83fbc7ccd644b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3ab7af93b4ffb" /><Relationship Type="http://schemas.openxmlformats.org/officeDocument/2006/relationships/image" Target="/ppt/media/image8.png" Id="Rd00a247778ec4a76" /><Relationship Type="http://schemas.openxmlformats.org/officeDocument/2006/relationships/notesSlide" Target="/ppt/notesSlides/notesSlide7.xml" Id="R877b437a136740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003c9f08f4755" /><Relationship Type="http://schemas.openxmlformats.org/officeDocument/2006/relationships/image" Target="/ppt/media/image9.png" Id="R68bda05d3b9e4886" /><Relationship Type="http://schemas.openxmlformats.org/officeDocument/2006/relationships/notesSlide" Target="/ppt/notesSlides/notesSlide8.xml" Id="R188d3ec2549b42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8a37ebe7b4b0c" /><Relationship Type="http://schemas.openxmlformats.org/officeDocument/2006/relationships/image" Target="/ppt/media/image10.png" Id="R5baff12ae95e4194" /><Relationship Type="http://schemas.openxmlformats.org/officeDocument/2006/relationships/notesSlide" Target="/ppt/notesSlides/notesSlide9.xml" Id="Rc2ad776d62c94f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ff697a05f4301" /><Relationship Type="http://schemas.openxmlformats.org/officeDocument/2006/relationships/image" Target="/ppt/media/image11.png" Id="Re2551919bef1469e" /><Relationship Type="http://schemas.openxmlformats.org/officeDocument/2006/relationships/notesSlide" Target="/ppt/notesSlides/notesSlide10.xml" Id="R2224f72409a449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95ce95eca4d01" /><Relationship Type="http://schemas.openxmlformats.org/officeDocument/2006/relationships/image" Target="/ppt/media/image12.png" Id="R34e0f86b7c2b4e3f" /><Relationship Type="http://schemas.openxmlformats.org/officeDocument/2006/relationships/notesSlide" Target="/ppt/notesSlides/notesSlide11.xml" Id="R0791653e738242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837ff5d584904" /><Relationship Type="http://schemas.openxmlformats.org/officeDocument/2006/relationships/image" Target="/ppt/media/image13.png" Id="R86edbb8215e74685" /><Relationship Type="http://schemas.openxmlformats.org/officeDocument/2006/relationships/notesSlide" Target="/ppt/notesSlides/notesSlide12.xml" Id="R77809d07ec5a4a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98a82c7334cee" /><Relationship Type="http://schemas.openxmlformats.org/officeDocument/2006/relationships/image" Target="/ppt/media/image14.png" Id="R9cb65d25f15e4133" /><Relationship Type="http://schemas.openxmlformats.org/officeDocument/2006/relationships/notesSlide" Target="/ppt/notesSlides/notesSlide13.xml" Id="Rf9c38488192246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4559884c24b8d" /><Relationship Type="http://schemas.openxmlformats.org/officeDocument/2006/relationships/image" Target="/ppt/media/image15.png" Id="Rdcba531db3b44c02" /><Relationship Type="http://schemas.openxmlformats.org/officeDocument/2006/relationships/notesSlide" Target="/ppt/notesSlides/notesSlide14.xml" Id="R780ed8c63e6f41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fcf45193c4aca" /><Relationship Type="http://schemas.openxmlformats.org/officeDocument/2006/relationships/image" Target="/ppt/media/image16.png" Id="R94fb7e521b894946" /><Relationship Type="http://schemas.openxmlformats.org/officeDocument/2006/relationships/notesSlide" Target="/ppt/notesSlides/notesSlide15.xml" Id="Ra5bec3d6b7454a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5D66C-9EF8-462C-94BF-BFD60E56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D2932-3F59-4FF1-A478-3D1A7565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BB5D6-0B86-427A-9DD6-A282FE2B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E8794-1E90-4AF5-8260-E414BD5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685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Resposta municipal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crises climáticas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83059-7A20-4E94-A819-5BBDC6E4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Pedidos de ajuda com prioridade,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responsável e acompanhamento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5b02b19ec486b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2b15805d84365"/>
          <a:stretch xmlns:a="http://schemas.openxmlformats.org/drawingml/2006/main"/>
        </p:blipFill>
        <p:spPr>
          <a:xfrm xmlns:a="http://schemas.openxmlformats.org/drawingml/2006/main">
            <a:off x="762000" y="495300"/>
            <a:ext cx="2324100" cy="2324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25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3E801-86B5-4F5C-9771-B0E3A781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contexto de uma crise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F18B5-0998-4DF3-85A3-95C928E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Muitas pessoas precisam de ajuda ao mesmo tempo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FE3E5-4E3A-4F42-9C30-B030D908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D21A1-731D-496E-B6D3-8C682597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948AF-3174-4A0F-9E04-DA039D6C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552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Os pedidos se acumulam.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central precisa decidir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onde agir primeiro.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3AE25-30C5-4D57-A0EA-4985CD35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574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Entrada dispersa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112BC-9D53-44DD-9457-41CE7789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Telefone, mensagens e relatos chegam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por caminhos diferentes.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CB326-60EF-4086-A225-DF5DE156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Território em mudança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3CB75-D9F0-47DC-AB34-CE79AD1D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625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Áreas alagadas e dificuldades de acesso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afetam a resposta.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9a7765cdc4bc7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55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4009D-3746-4DE5-A3EC-268ACF72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gargalo do 193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C5D7B-D6BF-47B9-BD9F-7A1ED71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Um relato da operação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45445-B1F6-487A-9A13-59D9EB9F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EDFFB-5202-4B58-A950-ECED876C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2A687-3E4F-4DFD-81FD-2EAF9B0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1 linha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72543-5173-4585-B463-85711D32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00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para um município 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aproximadamente 50 mil habitantes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38CFE-47F2-417E-A52F-42248765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Enquanto uma pessoa recebe atendimento,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outra pode encontrar a linha ocupada.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81B10-DA61-4909-AE67-5096C700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entrada digital amplia os caminhos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para registrar um pedido, desde que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central acompanhe esse canal.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044D3-D276-4ADC-9F65-B64F4A3A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Contexto relatado em 05/10/2026, a confirmar com a operação local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695ad9a1b439a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6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D4F5F-195A-4EFD-9AD9-C00BA93A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Onde a resposta perde continuidade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A50FF-FFBF-4F3A-B272-5428408B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Receber o pedido é apenas o início do atendimento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A5939-527F-4481-BECC-95624863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79696-5260-48EF-9BED-52D6C4A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00CD4-3B8D-4326-A7AE-F9729394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Pedido sem localização clara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A8F0A-EA3B-422D-9F4A-3DF9B85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central precisa descobrir onde agir.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DBEFC-1E21-4330-B98B-A3963E9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Prioridade sem 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02292-60F9-4C62-9C33-05B8007C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urgência disputa atenção com a ordem de chegada.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CD995-CBEE-47D6-A696-5B3AB319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Atendimento sem responsável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71566-1988-453E-B577-646F79C9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coordenação não sabe quem assumiu a demanda.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AD245-8280-45C4-BE90-3F4BC2EA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Desfecho sem registro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CA5C8-1AE0-4C79-A7F8-5AA707C7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operação perde a continuidade e o histórico.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7f72a2ec6476b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73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09145-BF29-4FE8-A1AA-9E94C8E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3CCA5-7263-4187-865A-4F93593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25746-3F75-468B-B777-43FDCCEA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resultado que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município precisa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07104-00DB-4A9E-8EA2-151D2AC1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7048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Saber onde agir.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Definir quem atende.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Acompanhar o desfecho.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E72D7-DF1E-4913-ADE3-DFC64FB6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681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Uma visão compartilhada da resposta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a740bae2b40cb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54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93CB5-7BEC-4A10-A9B8-2E10D42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proposta do GeoAlerta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E7FF7-90C9-48A4-8D5D-A6CE709E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Transformar pedidos dispersos em uma resposta coordenada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80DDC-9D5E-42A7-9DD4-41D0D41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DBB65-881B-40B8-96C0-5D1C079C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A3C42-CEE5-4244-9B2A-D75AD811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Cidadão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9B591-1C37-44A3-8621-EEAE75C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Registra a necessidade e informa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localização do dispositivo.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BC2FF-5C19-4528-8271-11A5ACC4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Central municipal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7DD48-7633-41C1-8992-FDCFC7A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Visualiza demandas no mapa e usa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contexto de risco na triagem.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9183C-AFD9-4675-85FE-BFCE75B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coordenação mantém cada pedido visível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 acompanha o atendimento até o encerramento.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9d8072b554166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01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DB05F-A8C8-4935-AAEE-7D4813A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caminho do pedido ao atendimento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43E2C-85C6-4AFF-AEBE-E6F6AD8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Fluxo operacional proposto, a validar com a central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7B687-18DD-415D-A822-3A6AB321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FC1F1-073D-4E71-A8AA-17656018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1F624-4D93-4BAD-9715-1F69EE23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8144C-0EE7-42F1-BC73-12C1054D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Reportar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93F75-C435-4E57-9626-D3C10103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622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O cidadão informa a necessidade.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5A1DB-2D3C-4940-89FC-C3833E51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237DA-1E2D-48A3-AF7D-59FF1128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99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Receber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10803-428B-4F48-BB9A-9DE10E68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004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central verifica os dados do pedido.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C4DAF-001C-4B47-BFC3-77EB204F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1B763-CD4D-4057-94D6-9EFD333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481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Localizar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2FFDA-3E0B-41F3-AAD9-8378D8B4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386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O território dá contexto à demanda.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32C85-34C3-49CF-87F2-936E9BE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521DF-2B4D-4DD5-A3F9-91D2BB8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863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Priorizar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318B7-F0E3-44CE-A723-614F9C4B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768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central avalia risco e urgência.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39420-F3A5-4606-86CB-7BFEFD90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D69C1-1C58-4F89-AED6-33244E64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Atribuir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E8117-CFBB-4462-B634-B5119775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622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coordenação define a equipe.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212CB-62A4-4C16-AE6D-B9E53FF8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04053-F4DD-443C-9FB1-ECCFC4B5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99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Acompanhar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EC028-6A14-48F5-9864-13F4E9AC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004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equipe atualiza o atendimento.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6ACF8-89AB-4971-8AA1-8FC9DB7A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17C79-2807-4338-86F2-D6214F7E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481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Encerrar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F894C-01BE-42A0-AD77-84CF9215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386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central registra o desfecho.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a247778ec4a76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92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31262-4629-450D-85AB-C70BA440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localização orienta a prioridade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B8938-F481-4CF7-8A5C-822260C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O mesmo pedido pode exigir atenção diferente conforme o território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FBFD0-0C32-4004-8322-914FB0A4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17B9C-C929-497B-8BC0-00DD573F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166FC-3634-48E1-B06A-FE038DF6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715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Pedido dentro de uma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mancha de inundação ativa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739E4-4A35-4A3A-AB3A-649E4204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90825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A83F3F"/>
                </a:solidFill>
                <a:latin typeface="Helvetica Neue"/>
                <a:ea typeface="Helvetica Neue"/>
                <a:cs typeface="Helvetica Neue"/>
              </a:rPr>
              <a:t>Prioridade alta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A83F3F"/>
                </a:solidFill>
                <a:latin typeface="Helvetica Neue"/>
                <a:ea typeface="Helvetica Neue"/>
                <a:cs typeface="Helvetica Neue"/>
              </a:rPr>
              <a:t>na triagem automática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428BA-5339-4E67-9435-E9289C71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Localização do dispositivo e áreas de risco cadastradas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ajudam a central a reconhecer o contexto da ocorrência.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da05d3b9e4886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178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2F5D2-CCE8-4202-B928-2906E6B4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Uma visão comum para a sala de crise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89ECA-9448-448E-8BF5-446AB701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O painel deve ajudar a coordenação a decidir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BAF53-EC41-4C8D-B847-92783A28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4AFFD-B047-43C3-AB65-FCB89BD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C456F-0AA6-4CCC-8DBA-828A99A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Onde estão as demandas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que precisam de atenção?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A2A06-ED69-44FF-AAF7-DD9FD42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Quem assumiu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cada atendimento?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55040-9B64-40D3-A3D5-77670FAB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que impede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equipe de avançar?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085C3-A1C3-461A-840B-4189EAA7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que já foi resolvido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 o que segue pendente?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ff12ae95e4194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49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F420D-98AF-43E2-8D77-49C24CA4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Uma família ilhada no bairro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8D06C-1318-4D51-9B66-F7E01C2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Exemplo ilustrativo do fluxo desejado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06BD2-B735-4B3A-8A9F-03F63EE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AB54C-9901-4B51-BDD3-CA2E2EAD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20EE3-C72C-4BBC-8883-6E4E99CA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O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E45CB-B024-4A3C-BCC0-4140E55D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família informa a situação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 a localização.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31912-7F51-4EF3-BFFB-B3C44751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717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A decisão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5BF39-CE8E-40BC-9C8B-843D5C13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004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central avalia o risco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 define o atendimento.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BFDFA-8A65-4E55-9FCA-855BCEE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717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O acompanhamento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08783-A785-4EFE-8994-9658EE1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04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equipe atualiza o andamento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 a central registra o desfecho.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98182-3D16-442F-8425-7CBA979F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coordenação consegue consultar o caminho de cada pedido.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51919bef1469e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29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EEA9F-3E51-4F7D-B269-4C4C6C4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Foco inicial e evolução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685FE-E100-43C8-B046-AE7FD350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O fluxo de ocorrências é o núcleo do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0372A-9178-464C-878C-B343100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40C99-E88E-476E-AFC4-496397DD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81250"/>
          <a:ext xmlns:a="http://schemas.openxmlformats.org/drawingml/2006/main" cx="106680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5334000"/>
              </a:tblGrid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Núcleo para o primeiro uso</a:t>
                      </a:r>
                    </a:p>
                  </a:txBody>
                  <a:tcPr marL="91440" marR="91440" marT="45720" marB="45720" anchor="t">
                    <a:solidFill>
                      <a:srgbClr val="EDF2F0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Capacidades de evolução</a:t>
                      </a:r>
                    </a:p>
                  </a:txBody>
                  <a:tcPr marL="91440" marR="91440" marT="45720" marB="45720" anchor="t">
                    <a:solidFill>
                      <a:srgbClr val="EDF2F0"/>
                    </a:solidFill>
                  </a:tcPr>
                </a:tc>
              </a:tr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Registro com localização do dispositivo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Atribuição e disponibilidade de equipes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Mapa e contexto de áreas de risco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Abrigos, recursos e suprimentos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Prioridade alta por mancha ativa</a:t>
                      </a:r>
                    </a:p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 alertas visuais na plataforma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Voluntários e encaminhamento</a:t>
                      </a:r>
                    </a:p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 necessidades médicas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Gestão das ocorrências e exportação CSV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Agrupamento por crise em Evento / Incident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F84AB-27B8-40F7-B3F9-C2DC7DBD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 prontidão operacional depende de validação com os responsáveis.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0f86b7c2b4e3f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26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2381F-2115-4D06-814A-34DDD21B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Como demonstrar valor na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A6B5B-3F58-49D9-9C64-DFDBA428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Indicadores propostos para um exercício ou piloto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31F12-F0C0-432B-A454-C5061C13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065E4-527B-4631-B097-E5FD389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2B00A-9A45-4578-A385-FC05D218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Tempo até a triagem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08D59-7907-4B33-8B5D-92FC200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Quanto tempo leva para a central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avaliar um pedido?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93F9B-EF07-486C-9001-FAF59786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Tempo até a atribuição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25B24-8ED9-4E6B-97C9-37F6249A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Quanto tempo leva para definir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quem vai atender?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6B6D5-B3E8-45F7-AAF4-996EAC73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Pedidos sem responsável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93FB2-A59C-4F9C-98D5-DDF81B9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Quantas demandas seguem abertas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sem alguém assumir?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5BFFA-5846-4F5C-BA84-C5FCAA52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386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Atendimentos com desfecho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5C60D-1438-4C59-8CC0-134F4CAC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673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Que proporção termina com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 resultado registrado?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dbb8215e74685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89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AB1CE-7F50-43E5-ACA4-F7D08AFA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Roadmap por etapas de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D8750-ABAF-4658-96C7-6EC6134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Uma sequência proposta, com avanço orientado pelo aprendizado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C5FB7-C0A7-4B77-A555-822207DD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8A29A-67DE-40F5-8525-B109EFB2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11961-4580-4EC2-9849-00E9F719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9073E-1443-4805-A3F0-471C4C1E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confiável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DC449-8FF6-4AAB-B321-27715F5D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2400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Registro, localização,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mapa e contexto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de risco.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97B84-4625-4B2B-B765-9DB04110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Validar a entrada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e a triagem.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55BD1-D336-447B-A590-6C385BA3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0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9EC5C-9AA5-4404-B9E8-0EE392FD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3375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Atendimento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coordenado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EFF43-5626-4CA8-B8A4-31164D5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71975"/>
            <a:ext cx="2400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Responsáveis, equipes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e atualização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do atendimento.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536D3-B654-455B-A75F-495CF846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54355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Validar o fluxo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até o desfecho.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23D4E-61F3-4C11-9F3A-CADD9D7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0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11C56-5EF0-48FC-BEAE-D00CC351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Meios 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resposta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E8438-6D10-4802-A6E6-84EA79FF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71975"/>
            <a:ext cx="2400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Abrigos, recursos,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suprimentos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e voluntários.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15296-9324-4E83-8065-1A86E852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Validar decisões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sobre os recursos.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06018-0A21-4CC8-8C9A-DBDF353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00325"/>
            <a:ext cx="2466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29C32-7E47-4EC8-89DC-D9302A4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33750"/>
            <a:ext cx="2466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Visão integrada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da crise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A635F-34D9-48CE-8C67-FC771F4A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71975"/>
            <a:ext cx="24669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Evento / Incident,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sala de crise 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análise da operação.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B08F8-49FB-4757-9489-B8C53BF2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43550"/>
            <a:ext cx="2466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Validar a visão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compartilhada.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65d25f15e4133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08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D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862B3-BA91-4CDA-A19B-1560B0B6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A3B3F-D19E-482E-A601-6C78C9F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A27FF-9E0E-4943-83AD-19B9DC7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700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Onde o GeoAlerta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pode chegar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019DA-1A89-4CFA-963F-F4D94F29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685800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Uma visão da crise inteira,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com cada atendimento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conectado à operação.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BE235-C991-4262-B109-FD9FEBD1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7429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Demandas e prioridades no território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Equipes e recursos sob a mesma coordenação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Histórico para aprender após a crise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a531db3b44c02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48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6A070-FD08-44D6-8B89-81B3F8DD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Próximo passo: validar com a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908F1-F28C-4DEA-8756-6FBD2C66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Um exercício ou piloto com Defesa Civil e Bombeiros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8648F-F647-452A-935E-80410484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6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78E0D-6BAE-40F2-A6AC-796AFF18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7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2323C-FE90-49F1-BA1B-56AFE53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Preparar o 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2E3A6-AE84-49D7-9C69-B7699C13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Definir a situação prioritária,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os canais e os responsáveis.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F375F-7CCB-4A4F-824E-ED22247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580"/>
                </a:solidFill>
                <a:latin typeface="Helvetica Neue"/>
                <a:ea typeface="Helvetica Neue"/>
                <a:cs typeface="Helvetica Neue"/>
              </a:rPr>
              <a:t>Avaliar o atendimento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52F73-9B7D-4115-9EF8-BF5A2822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Percorrer o fluxo e medir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onde a resposta ganha continuidade.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D2B79-D4A7-4715-829D-52F608A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visão de futuro começa com um pedido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que a operação consegue acompanhar.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b7e521b894946"/>
          <a:stretch xmlns:a="http://schemas.openxmlformats.org/drawingml/2006/main"/>
        </p:blipFill>
        <p:spPr>
          <a:xfrm xmlns:a="http://schemas.openxmlformats.org/drawingml/2006/main">
            <a:off x="762000" y="6210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15518"/>
      </p:ext>
    </p:extLst>
  </p:cSld>
</p:sld>
</file>

<file path=ppt/theme/theme1.xml><?xml version="1.0" encoding="utf-8"?>
<a:theme xmlns:a="http://schemas.openxmlformats.org/drawingml/2006/main" name="ChatGPT">
  <a:themeElements>
    <a:clrScheme name="GeoAlerta Design System 1.0">
      <a:dk1>
        <a:srgbClr val="243746"/>
      </a:dk1>
      <a:lt1>
        <a:srgbClr val="FFFFFF"/>
      </a:lt1>
      <a:dk2>
        <a:srgbClr val="536671"/>
      </a:dk2>
      <a:lt2>
        <a:srgbClr val="F5F7F6"/>
      </a:lt2>
      <a:accent1>
        <a:srgbClr val="087580"/>
      </a:accent1>
      <a:accent2>
        <a:srgbClr val="A83F3F"/>
      </a:accent2>
      <a:accent3>
        <a:srgbClr val="315E89"/>
      </a:accent3>
      <a:accent4>
        <a:srgbClr val="875B17"/>
      </a:accent4>
      <a:accent5>
        <a:srgbClr val="28664C"/>
      </a:accent5>
      <a:accent6>
        <a:srgbClr val="536671"/>
      </a:accent6>
      <a:hlink>
        <a:srgbClr val="087580"/>
      </a:hlink>
      <a:folHlink>
        <a:srgbClr val="06616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Alerta Design System 1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2026-10-06T01:16:41.5970000Z</dcterms:created>
  <dcterms:modified xsi:type="dcterms:W3CDTF">2026-10-06T01:16:41.5970000Z</dcterms:modified>
</coreProperties>
</file>