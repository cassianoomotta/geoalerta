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95b53530a94234" /><Relationship Type="http://schemas.openxmlformats.org/officeDocument/2006/relationships/extended-properties" Target="/docProps/app.xml" Id="Reaf620080f0145ed" /><Relationship Type="http://schemas.openxmlformats.org/officeDocument/2006/relationships/officeDocument" Target="/ppt/presentation.xml" Id="R3292e4f081ff4b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80e6522d4f4dd3"/>
  </p:sldMasterIdLst>
  <p:notesMasterIdLst>
    <p:notesMasterId xmlns:r="http://schemas.openxmlformats.org/officeDocument/2006/relationships" r:id="R914edbf8581c4c56"/>
  </p:notesMasterIdLst>
  <p:sldIdLst>
    <p:sldId xmlns:r="http://schemas.openxmlformats.org/officeDocument/2006/relationships" id="256" r:id="Rff62c9cd443d452f"/>
    <p:sldId xmlns:r="http://schemas.openxmlformats.org/officeDocument/2006/relationships" id="257" r:id="Re3b01b2dcb3144ed"/>
    <p:sldId xmlns:r="http://schemas.openxmlformats.org/officeDocument/2006/relationships" id="258" r:id="R7756d8003f25456e"/>
    <p:sldId xmlns:r="http://schemas.openxmlformats.org/officeDocument/2006/relationships" id="259" r:id="Ra2f1f12434e543e9"/>
    <p:sldId xmlns:r="http://schemas.openxmlformats.org/officeDocument/2006/relationships" id="260" r:id="R27c2453e1a1c4314"/>
    <p:sldId xmlns:r="http://schemas.openxmlformats.org/officeDocument/2006/relationships" id="261" r:id="R5a3eee811cde43da"/>
    <p:sldId xmlns:r="http://schemas.openxmlformats.org/officeDocument/2006/relationships" id="262" r:id="R677fd729b7c743e8"/>
    <p:sldId xmlns:r="http://schemas.openxmlformats.org/officeDocument/2006/relationships" id="263" r:id="R6d25de4171eb4fba"/>
    <p:sldId xmlns:r="http://schemas.openxmlformats.org/officeDocument/2006/relationships" id="264" r:id="R790afb64270e4eac"/>
    <p:sldId xmlns:r="http://schemas.openxmlformats.org/officeDocument/2006/relationships" id="265" r:id="R04c3bc8928614651"/>
    <p:sldId xmlns:r="http://schemas.openxmlformats.org/officeDocument/2006/relationships" id="266" r:id="R31b785c5b1784009"/>
    <p:sldId xmlns:r="http://schemas.openxmlformats.org/officeDocument/2006/relationships" id="267" r:id="R8d7de86b799a4367"/>
    <p:sldId xmlns:r="http://schemas.openxmlformats.org/officeDocument/2006/relationships" id="268" r:id="R2a433cb0eab845ed"/>
    <p:sldId xmlns:r="http://schemas.openxmlformats.org/officeDocument/2006/relationships" id="269" r:id="R48195f6b12b544ca"/>
    <p:sldId xmlns:r="http://schemas.openxmlformats.org/officeDocument/2006/relationships" id="270" r:id="R1fc44680a24b44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4736435f444321" /><Relationship Type="http://schemas.openxmlformats.org/officeDocument/2006/relationships/slideMaster" Target="/ppt/slideMasters/slideMaster1.xml" Id="R5380e6522d4f4dd3" /><Relationship Type="http://schemas.openxmlformats.org/officeDocument/2006/relationships/notesMaster" Target="/ppt/notesMasters/notesMaster1.xml" Id="R914edbf8581c4c56" /><Relationship Type="http://schemas.openxmlformats.org/officeDocument/2006/relationships/presProps" Target="/ppt/presProps.xml" Id="Rb585b199540b4161" /><Relationship Type="http://schemas.openxmlformats.org/officeDocument/2006/relationships/tableStyles" Target="/ppt/tableStyles.xml" Id="Rf934e121abe84161" /><Relationship Type="http://schemas.openxmlformats.org/officeDocument/2006/relationships/slide" Target="/ppt/slides/slide1.xml" Id="Rff62c9cd443d452f" /><Relationship Type="http://schemas.openxmlformats.org/officeDocument/2006/relationships/slide" Target="/ppt/slides/slide2.xml" Id="Re3b01b2dcb3144ed" /><Relationship Type="http://schemas.openxmlformats.org/officeDocument/2006/relationships/slide" Target="/ppt/slides/slide3.xml" Id="R7756d8003f25456e" /><Relationship Type="http://schemas.openxmlformats.org/officeDocument/2006/relationships/slide" Target="/ppt/slides/slide4.xml" Id="Ra2f1f12434e543e9" /><Relationship Type="http://schemas.openxmlformats.org/officeDocument/2006/relationships/slide" Target="/ppt/slides/slide5.xml" Id="R27c2453e1a1c4314" /><Relationship Type="http://schemas.openxmlformats.org/officeDocument/2006/relationships/slide" Target="/ppt/slides/slide6.xml" Id="R5a3eee811cde43da" /><Relationship Type="http://schemas.openxmlformats.org/officeDocument/2006/relationships/slide" Target="/ppt/slides/slide7.xml" Id="R677fd729b7c743e8" /><Relationship Type="http://schemas.openxmlformats.org/officeDocument/2006/relationships/slide" Target="/ppt/slides/slide8.xml" Id="R6d25de4171eb4fba" /><Relationship Type="http://schemas.openxmlformats.org/officeDocument/2006/relationships/slide" Target="/ppt/slides/slide9.xml" Id="R790afb64270e4eac" /><Relationship Type="http://schemas.openxmlformats.org/officeDocument/2006/relationships/slide" Target="/ppt/slides/slide10.xml" Id="R04c3bc8928614651" /><Relationship Type="http://schemas.openxmlformats.org/officeDocument/2006/relationships/slide" Target="/ppt/slides/slide11.xml" Id="R31b785c5b1784009" /><Relationship Type="http://schemas.openxmlformats.org/officeDocument/2006/relationships/slide" Target="/ppt/slides/slide12.xml" Id="R8d7de86b799a4367" /><Relationship Type="http://schemas.openxmlformats.org/officeDocument/2006/relationships/slide" Target="/ppt/slides/slide13.xml" Id="R2a433cb0eab845ed" /><Relationship Type="http://schemas.openxmlformats.org/officeDocument/2006/relationships/slide" Target="/ppt/slides/slide14.xml" Id="R48195f6b12b544ca" /><Relationship Type="http://schemas.openxmlformats.org/officeDocument/2006/relationships/slide" Target="/ppt/slides/slide15.xml" Id="R1fc44680a24b44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356005145a4f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GeoAlerta">
      <a:dk1>
        <a:srgbClr val="102A43"/>
      </a:dk1>
      <a:lt1>
        <a:srgbClr val="FFFFFF"/>
      </a:lt1>
      <a:dk2>
        <a:srgbClr val="48616C"/>
      </a:dk2>
      <a:lt2>
        <a:srgbClr val="F5F5F0"/>
      </a:lt2>
      <a:accent1>
        <a:srgbClr val="087F8C"/>
      </a:accent1>
      <a:accent2>
        <a:srgbClr val="EF773D"/>
      </a:accent2>
      <a:accent3>
        <a:srgbClr val="102A43"/>
      </a:accent3>
      <a:accent4>
        <a:srgbClr val="AF451A"/>
      </a:accent4>
      <a:accent5>
        <a:srgbClr val="48616C"/>
      </a:accent5>
      <a:accent6>
        <a:srgbClr val="BDD4DC"/>
      </a:accent6>
      <a:hlink>
        <a:srgbClr val="087F8C"/>
      </a:hlink>
      <a:folHlink>
        <a:srgbClr val="AF451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oAlert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5c2428de2a4588" /><Relationship Type="http://schemas.openxmlformats.org/officeDocument/2006/relationships/notesMaster" Target="/ppt/notesMasters/notesMaster1.xml" Id="R14e61ce696c641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0a37e1b1c74214" /><Relationship Type="http://schemas.openxmlformats.org/officeDocument/2006/relationships/notesMaster" Target="/ppt/notesMasters/notesMaster1.xml" Id="R6813c51ae5be49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5b436c9a254edb" /><Relationship Type="http://schemas.openxmlformats.org/officeDocument/2006/relationships/notesMaster" Target="/ppt/notesMasters/notesMaster1.xml" Id="R0312aee862694c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2de5b4b21a47f4" /><Relationship Type="http://schemas.openxmlformats.org/officeDocument/2006/relationships/notesMaster" Target="/ppt/notesMasters/notesMaster1.xml" Id="Ree0a6f53230c4f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57392eb8024883" /><Relationship Type="http://schemas.openxmlformats.org/officeDocument/2006/relationships/notesMaster" Target="/ppt/notesMasters/notesMaster1.xml" Id="R512fa75c92c149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13d2a8e56c4a99" /><Relationship Type="http://schemas.openxmlformats.org/officeDocument/2006/relationships/notesMaster" Target="/ppt/notesMasters/notesMaster1.xml" Id="Rf2e39f013e9a4f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ff73b7191c4e78" /><Relationship Type="http://schemas.openxmlformats.org/officeDocument/2006/relationships/notesMaster" Target="/ppt/notesMasters/notesMaster1.xml" Id="R6c1c15eae41d4a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73e071da6e4acf" /><Relationship Type="http://schemas.openxmlformats.org/officeDocument/2006/relationships/notesMaster" Target="/ppt/notesMasters/notesMaster1.xml" Id="Rb90f327ef95a4e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1ff8c894484ddc" /><Relationship Type="http://schemas.openxmlformats.org/officeDocument/2006/relationships/notesMaster" Target="/ppt/notesMasters/notesMaster1.xml" Id="R49157bdb341a47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d807cea52e4002" /><Relationship Type="http://schemas.openxmlformats.org/officeDocument/2006/relationships/notesMaster" Target="/ppt/notesMasters/notesMaster1.xml" Id="R411b1cc8dbbd43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86be3b74f8448e" /><Relationship Type="http://schemas.openxmlformats.org/officeDocument/2006/relationships/notesMaster" Target="/ppt/notesMasters/notesMaster1.xml" Id="R43bff6362b2246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2fdbb9a7154dee" /><Relationship Type="http://schemas.openxmlformats.org/officeDocument/2006/relationships/notesMaster" Target="/ppt/notesMasters/notesMaster1.xml" Id="Rde773ab5b7f749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8fc23318bb4d4a" /><Relationship Type="http://schemas.openxmlformats.org/officeDocument/2006/relationships/notesMaster" Target="/ppt/notesMasters/notesMaster1.xml" Id="Rbc97149d4aa04b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9dc8574c2a420b" /><Relationship Type="http://schemas.openxmlformats.org/officeDocument/2006/relationships/notesMaster" Target="/ppt/notesMasters/notesMaster1.xml" Id="R3233022f013041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0d3e5f997941f4" /><Relationship Type="http://schemas.openxmlformats.org/officeDocument/2006/relationships/notesMaster" Target="/ppt/notesMasters/notesMaster1.xml" Id="R07a19060235f48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Abertura, cerca de 40 segundos. O GeoAlerta apoia a Defesa Civil e os Bombeiros na resposta municipal a crises climáticas. Apresente o resultado que a operação precisa alcançar. Referência de estrutura: Sequoia, Writing a Business Plan, https://sequoiacap.com/article/writing-a-business-plan. Referência de linguagem visual: Kevin Hale, How to Design a Better Pitch Deck, https://www.ycombinator.com/blog/how-to-design-a-better-pitch-deck/. A adaptação é institucional, sem alegação de vínculo ou endosso dessas organizações.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  <a:p xmlns:a="http://schemas.openxmlformats.org/drawingml/2006/main">
            <a:r>
              <a:t>Arte cartográfica abstrata gerada com ImageGen para a identidade visual. Não corresponde a um mapa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um cenário operacional, sem quantificá-lo como estatística observada. A reunião descreve canais diferentes, informações incompletas e equipes distribuídas. A pressão sobre a central cresce com pedidos simultâneos e condições do território.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município considerado, com aproximadamente 50 mil habitantes, teria apenas uma linha do 193. Esse dado foi relatado na reunião e precisa ser confirmado com a operação local. Não extrapolar para outros municípios. O app oferece uma entrada adicional e não aumenta por si só a capacidade telefônica. Evite sugerir que o cidadão deve trocar os canais de emergência pelo app. A central precisa estabelecer coexistência, monitoramento e orientação.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discussão identificou como riscos operacionais demandas perdidas, pouca visibilidade, dificuldade de priorização e ausência de acompanhamento. Não houve medição da frequência desses problemas. As perguntas ajudam o público a reconhecer onde precisa validar a solução.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metáfora discutida na reunião foi vender o quadro na parede, ou seja, o resultado operacional. O produto deve permitir saber o que está acontecendo e coordenar a resposta. Menos demandas perdidas, melhor priorização e resposta mais rápida são resultados pretendidos, a validar no piloto.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  <a:p xmlns:a="http://schemas.openxmlformats.org/drawingml/2006/main">
            <a:r>
              <a:t>Arte cartográfica abstrata gerada com ImageGen para a identidade visual. Não corresponde a um mapa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Essa é a proposta de valor registrada na memória. A composição descreve o desenho da solução e seus papéis, não uma declaração de que toda a visão está pronta. O núcleo inicial reúne entrada do cidadão e gestão no painel. A atribuição e disponibilidade de equipes dependem da evolução e da validação com os usuários.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Fluxo da memória: cidadão reporta, central recebe, localiza, prioriza, atribui equipe, acompanha e encerra. A central verifica informações essenciais e possíveis duplicidades. O roadmap deve distinguir o fluxo desejado do escopo inicial. A atribuição formal de equipes e o acompanhamento em campo são evolução a validar.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Regra de negócio de AGENTS.md: o registro do cidadão deve conter latitude e longitude extraídas nativamente do dispositivo. Toda nova ocorrência deve ser verificada em relação aos polígonos de áreas de risco. A sobreposição a mancha de inundação ativa implica prioridade alta automática. A central mantém sua responsabilidade pela avaliação operacional e contextual. A representação nesta apresentação é textual, não um mapa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Visão de sala de crise derivada da memória. O mapa e os alertas visuais na plataforma apoiam o foco inicial. A visibilidade de disponibilidade de equipes, recursos e atendimentos bloqueados depende das capacidades futuras e da adoção operacional. Não apresentar essas perguntas como evidência de um dashboard completo já disponível.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Cenário sintético, sem dados reais e sem resultado comprovado. A localização e o contexto de risco apoiam a triagem. A central define prioridade e equipe conforme os critérios da operação. A capacidade de atribuir equipes e obter atualizações de campo faz parte da evolução proposta. Não inventar tempo de atendimento ou prometer resgate.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foco inicial é uma proposta de escopo, não um certificado de prontidão de todas as funções. docs/releases/core/README.md informa que a release Core é uma proposta para revisão. AGENTS.md define localização, validação geográfica, prioridade alta por mancha ativa, alertas visuais em tempo real no painel e exportação CSV local. A memória posiciona equipes, abrigos, recursos, mantimentos, voluntários, necessidades médicas e Evento/Incident como capacidades de evolução. Abrigos e módulos já existentes na base anterior não equivalem a um aceite operacional da visão nova. Nenhuma integração bidirecional com planilhas é escopo do MVP.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Indicadores sugeridos na memória, sem baseline, metas ou resultados informados. Recomenda-se observar o processo atual e comparar o piloto em cenários compatíveis. Definir coleta, responsáveis e critérios de aceite com a operação. A proposta é aprender sobre continuidade, e não declarar impacto já alcançado.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editorial do roadmap baseada nas capacidades da memória, não um cronograma aprovado. Não há datas, orçamento ou garantia de entrega. Cada etapa deve ter escopo e critério de aceite acordados com os usuários. A etapa 1 valida o núcleo. A etapa 2 aprofunda responsabilidade e continuidade. A etapa 3 integra meios de resposta. A etapa 4 conecta ocorrências em Evento/Incident para a visão da crise e análise posterior. Conectividade, responsabilidades da central e critérios de prioridade precisam ser resolvidos durante a validação.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Visão futura do produto, não escopo entregue. A entidade Evento/Incident foi sugerida na reunião para agrupar múltiplas ocorrências em uma crise. A nomenclatura, a modelagem e os responsáveis precisam ser confirmados. A sala de crise conecta demandas, prioridades, equipes e recursos. A ambição é permitir uma resposta municipal acompanhada e aprendizado após a crise.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  <a:p xmlns:a="http://schemas.openxmlformats.org/drawingml/2006/main">
            <a:r>
              <a:t>Arte cartográfica abstrata gerada com ImageGen para a identidade visual. Não corresponde a um mapa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Encerramento institucional, sem financiamento, equipe fundadora, tração ou tamanho de mercado inventados. Proposta de próximo passo: escolher um cenário prioritário, definir responsáveis pela entrada digital e triagem, executar o fluxo completo e avaliar os indicadores. A central deve confirmar como o app e os canais existentes coexistem, bem como orientar o cidadão. Não estabelecer prazos sem acordo dos responsáveis.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memória da reunião com Cassiano, 05/10/2026. docs/meetings/memoria-app-defesa-civil-bombeiros-2026-10-05.md. Documento de visão, sem comprovação de resultados operacionais.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10bbe497c4d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7d2f08f0094936" /><Relationship Type="http://schemas.openxmlformats.org/officeDocument/2006/relationships/slideLayout" Target="/ppt/slideLayouts/slideLayout1.xml" Id="R04ce8f256c8a43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ce8f256c8a43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GeoAlerta">
      <a:dk1>
        <a:srgbClr val="102A43"/>
      </a:dk1>
      <a:lt1>
        <a:srgbClr val="FFFFFF"/>
      </a:lt1>
      <a:dk2>
        <a:srgbClr val="48616C"/>
      </a:dk2>
      <a:lt2>
        <a:srgbClr val="F5F5F0"/>
      </a:lt2>
      <a:accent1>
        <a:srgbClr val="087F8C"/>
      </a:accent1>
      <a:accent2>
        <a:srgbClr val="EF773D"/>
      </a:accent2>
      <a:accent3>
        <a:srgbClr val="102A43"/>
      </a:accent3>
      <a:accent4>
        <a:srgbClr val="AF451A"/>
      </a:accent4>
      <a:accent5>
        <a:srgbClr val="48616C"/>
      </a:accent5>
      <a:accent6>
        <a:srgbClr val="BDD4DC"/>
      </a:accent6>
      <a:hlink>
        <a:srgbClr val="087F8C"/>
      </a:hlink>
      <a:folHlink>
        <a:srgbClr val="AF451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oAlert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4df21c3aa42f3" /><Relationship Type="http://schemas.openxmlformats.org/officeDocument/2006/relationships/image" Target="/ppt/media/image.png" Id="R52f848d53fe040ae" /><Relationship Type="http://schemas.openxmlformats.org/officeDocument/2006/relationships/notesSlide" Target="/ppt/notesSlides/notesSlide1.xml" Id="Rb62d834925fe43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ef83b1d6b4a23" /><Relationship Type="http://schemas.openxmlformats.org/officeDocument/2006/relationships/notesSlide" Target="/ppt/notesSlides/notesSlide2.xml" Id="R735ff664d9c744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cbd274a3d44a2" /><Relationship Type="http://schemas.openxmlformats.org/officeDocument/2006/relationships/notesSlide" Target="/ppt/notesSlides/notesSlide3.xml" Id="Rdbd264aa382e40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de53f8f264a6b" /><Relationship Type="http://schemas.openxmlformats.org/officeDocument/2006/relationships/notesSlide" Target="/ppt/notesSlides/notesSlide4.xml" Id="R77f5b210bee349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9aeba055a485d" /><Relationship Type="http://schemas.openxmlformats.org/officeDocument/2006/relationships/image" Target="/ppt/media/image2.png" Id="R3f268bb1fb4143d6" /><Relationship Type="http://schemas.openxmlformats.org/officeDocument/2006/relationships/notesSlide" Target="/ppt/notesSlides/notesSlide5.xml" Id="R35bb4e1c2fa147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77af4d18f4227" /><Relationship Type="http://schemas.openxmlformats.org/officeDocument/2006/relationships/notesSlide" Target="/ppt/notesSlides/notesSlide6.xml" Id="R4a4ea14dd80f46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147fcabe8482f" /><Relationship Type="http://schemas.openxmlformats.org/officeDocument/2006/relationships/notesSlide" Target="/ppt/notesSlides/notesSlide7.xml" Id="Rabc2d764a9944c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85b2d9c4749ff" /><Relationship Type="http://schemas.openxmlformats.org/officeDocument/2006/relationships/notesSlide" Target="/ppt/notesSlides/notesSlide8.xml" Id="R249e09255f0643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0f9eb3e1445f6" /><Relationship Type="http://schemas.openxmlformats.org/officeDocument/2006/relationships/notesSlide" Target="/ppt/notesSlides/notesSlide9.xml" Id="R93cc303490e942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0705b183f40aa" /><Relationship Type="http://schemas.openxmlformats.org/officeDocument/2006/relationships/notesSlide" Target="/ppt/notesSlides/notesSlide10.xml" Id="Rc4d2c76dc4da4b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d80fa8dfb4e49" /><Relationship Type="http://schemas.openxmlformats.org/officeDocument/2006/relationships/notesSlide" Target="/ppt/notesSlides/notesSlide11.xml" Id="R7ffa51b491da45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c8a6437c34b0e" /><Relationship Type="http://schemas.openxmlformats.org/officeDocument/2006/relationships/notesSlide" Target="/ppt/notesSlides/notesSlide12.xml" Id="R52c858f7dce746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3446ac229470c" /><Relationship Type="http://schemas.openxmlformats.org/officeDocument/2006/relationships/notesSlide" Target="/ppt/notesSlides/notesSlide13.xml" Id="R6ae898f1644343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8337efa584edf" /><Relationship Type="http://schemas.openxmlformats.org/officeDocument/2006/relationships/image" Target="/ppt/media/image3.png" Id="R05095f9386494e6c" /><Relationship Type="http://schemas.openxmlformats.org/officeDocument/2006/relationships/notesSlide" Target="/ppt/notesSlides/notesSlide14.xml" Id="R6b3b1f12a5424fb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1058cc1d849df" /><Relationship Type="http://schemas.openxmlformats.org/officeDocument/2006/relationships/notesSlide" Target="/ppt/notesSlides/notesSlide15.xml" Id="Ra9903b1d6b4045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848d53fe040a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5D66C-9EF8-462C-94BF-BFD60E56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DD4DC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D2932-3F59-4FF1-A478-3D1A7565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BB5D6-0B86-427A-9DD6-A282FE2B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E8794-1E90-4AF5-8260-E414BD57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6381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Resposta municipal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crises climáticas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83059-7A20-4E94-A819-5BBDC6E4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638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rPr>
              <a:t>Pedidos de ajuda com prioridade,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rPr>
              <a:t>responsável e acompanhamento</a:t>
            </a:r>
          </a:p>
        </p:txBody>
      </p:sp>
    </p:spTree>
    <p:extLst>
      <p:ext uri="{BB962C8B-B14F-4D97-AF65-F5344CB8AC3E}">
        <p14:creationId xmlns:p14="http://schemas.microsoft.com/office/powerpoint/2010/main" val="561125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3E801-86B5-4F5C-9771-B0E3A781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 contexto de uma crise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F18B5-0998-4DF3-85A3-95C928E6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Muitas pessoas precisam de ajuda ao mesmo tempo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FE3E5-4E3A-4F42-9C30-B030D908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D21A1-731D-496E-B6D3-8C682597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948AF-3174-4A0F-9E04-DA039D6C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5524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Os pedidos se acumulam.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central precisa decidir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onde agir primeiro.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3AE25-30C5-4D57-A0EA-4985CD35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574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Entrada dispersa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112BC-9D53-44DD-9457-41CE7789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86125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Telefone, mensagens e relatos chegam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por caminhos diferentes.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CB326-60EF-4086-A225-DF5DE156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339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Território em mudança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3CB75-D9F0-47DC-AB34-CE79AD1D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625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Áreas alagadas e dificuldades de acesso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afetam a resposta.</a:t>
            </a:r>
          </a:p>
        </p:txBody>
      </p:sp>
    </p:spTree>
    <p:extLst>
      <p:ext uri="{BB962C8B-B14F-4D97-AF65-F5344CB8AC3E}">
        <p14:creationId xmlns:p14="http://schemas.microsoft.com/office/powerpoint/2010/main" val="9656552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4009D-3746-4DE5-A3EC-268ACF72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 gargalo do 193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C5D7B-D6BF-47B9-BD9F-7A1ED715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Um relato da operação local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45445-B1F6-487A-9A13-59D9EB9F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EDFFB-5202-4B58-A950-ECED876C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2A687-3E4F-4DFD-81FD-2EAF9B00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40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rPr>
              <a:t>1 linha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72543-5173-4585-B463-85711D32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600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para um município 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aproximadamente 50 mil habitantes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38CFE-47F2-417E-A52F-42248765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Enquanto uma pessoa recebe atendimento,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outra pode encontrar a linha ocupada.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81B10-DA61-4909-AE67-5096C700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91050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A entrada digital amplia os caminhos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para registrar um pedido, desde que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a central acompanhe esse canal.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044D3-D276-4ADC-9F65-B64F4A3A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Contexto relatado em 05/10/2026, a confirmar com a operação local</a:t>
            </a:r>
          </a:p>
        </p:txBody>
      </p:sp>
    </p:spTree>
    <p:extLst>
      <p:ext uri="{BB962C8B-B14F-4D97-AF65-F5344CB8AC3E}">
        <p14:creationId xmlns:p14="http://schemas.microsoft.com/office/powerpoint/2010/main" val="3701268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D4F5F-195A-4EFD-9AD9-C00BA93A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Onde a resposta perde continuidade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A50FF-FFBF-4F3A-B272-5428408B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Receber o pedido é apenas o início do atendimento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A5939-527F-4481-BECC-95624863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79696-5260-48EF-9BED-52D6C4A7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00CD4-3B8D-4326-A7AE-F9729394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Pedido sem localização clara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A8F0A-EA3B-422D-9F4A-3DF9B85B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A central precisa descobrir onde agir.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DBEFC-1E21-4330-B98B-A3963E96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Prioridade sem contexto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02292-60F9-4C62-9C33-05B8007C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38525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A urgência disputa atenção com a ordem de chegada.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CD995-CBEE-47D6-A696-5B3AB319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Atendimento sem responsável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71566-1988-453E-B577-646F79C9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A coordenação não sabe quem assumiu a demanda.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AD245-8280-45C4-BE90-3F4BC2EA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Desfecho sem registro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CA5C8-1AE0-4C79-A7F8-5AA707C7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9675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A operação perde a continuidade e o histórico.</a:t>
            </a:r>
          </a:p>
        </p:txBody>
      </p:sp>
    </p:spTree>
    <p:extLst>
      <p:ext uri="{BB962C8B-B14F-4D97-AF65-F5344CB8AC3E}">
        <p14:creationId xmlns:p14="http://schemas.microsoft.com/office/powerpoint/2010/main" val="14081735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68bb1fb4143d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09145-BF29-4FE8-A1AA-9E94C8E0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DD4DC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3CCA5-7263-4187-865A-4F935938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25746-3F75-468B-B777-43FDCCEA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647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resultado que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município precisa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07104-00DB-4A9E-8EA2-151D2AC1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7048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Saber onde agir.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Definir quem atende.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Acompanhar o desfecho.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E72D7-DF1E-4913-ADE3-DFC64FB6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681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EF77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F773D"/>
                </a:solidFill>
                <a:latin typeface="Helvetica Neue"/>
                <a:ea typeface="Helvetica Neue"/>
                <a:cs typeface="Helvetica Neue"/>
              </a:rPr>
              <a:t>Uma visão compartilhada da resposta</a:t>
            </a:r>
          </a:p>
        </p:txBody>
      </p:sp>
    </p:spTree>
    <p:extLst>
      <p:ext uri="{BB962C8B-B14F-4D97-AF65-F5344CB8AC3E}">
        <p14:creationId xmlns:p14="http://schemas.microsoft.com/office/powerpoint/2010/main" val="15176543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93CB5-7BEC-4A10-A9B8-2E10D420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proposta do GeoAlerta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E7FF7-90C9-48A4-8D5D-A6CE709E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Transformar pedidos dispersos em uma resposta coordenada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80DDC-9D5E-42A7-9DD4-41D0D419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DBB65-881B-40B8-96C0-5D1C079C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A3C42-CEE5-4244-9B2A-D75AD811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Cidadão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9B591-1C37-44A3-8621-EEAE75C6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Registra a necessidade e informa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localização do dispositivo.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BC2FF-5C19-4528-8271-11A5ACC4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Central municipal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7DD48-7633-41C1-8992-FDCFC7A4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Visualiza demandas no mapa e usa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 contexto de risco na triagem.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9183C-AFD9-4675-85FE-BFCE75B2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coordenação mantém cada pedido visível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e acompanha o atendimento até o encerramento.</a:t>
            </a:r>
          </a:p>
        </p:txBody>
      </p:sp>
    </p:spTree>
    <p:extLst>
      <p:ext uri="{BB962C8B-B14F-4D97-AF65-F5344CB8AC3E}">
        <p14:creationId xmlns:p14="http://schemas.microsoft.com/office/powerpoint/2010/main" val="5355013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EDB05F-A8C8-4935-AAEE-7D4813AF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 caminho do pedido ao atendimento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43E2C-85C6-4AFF-AEBE-E6F6AD8A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Fluxo operacional proposto, a validar com a central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7B687-18DD-415D-A822-3A6AB321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FC1F1-073D-4E71-A8AA-17656018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1F624-4D93-4BAD-9715-1F69EE23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8144C-0EE7-42F1-BC73-12C1054D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717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Reportar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93F75-C435-4E57-9626-D3C10103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62275"/>
            <a:ext cx="409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O cidadão informa a necessidade.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5A1DB-2D3C-4940-89FC-C3833E51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237DA-1E2D-48A3-AF7D-59FF1128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099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Receber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10803-428B-4F48-BB9A-9DE10E68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00475"/>
            <a:ext cx="409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A central verifica os dados do pedido.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C4DAF-001C-4B47-BFC3-77EB204F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1B763-CD4D-4057-94D6-9EFD3337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481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Localizar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2FFDA-3E0B-41F3-AAD9-8378D8B4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38675"/>
            <a:ext cx="409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O território dá contexto à demanda.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32C85-34C3-49CF-87F2-936E9BEB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521DF-2B4D-4DD5-A3F9-91D2BB83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863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Priorizar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318B7-F0E3-44CE-A723-614F9C4B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76875"/>
            <a:ext cx="409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A central avalia risco e urgência.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39420-F3A5-4606-86CB-7BFEFD90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D69C1-1C58-4F89-AED6-33244E64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717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Atribuir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E8117-CFBB-4462-B634-B5119775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62275"/>
            <a:ext cx="409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A coordenação define a equipe.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7212CB-62A4-4C16-AE6D-B9E53FF8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99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04053-F4DD-443C-9FB1-ECCFC4B5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099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Acompanhar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EC028-6A14-48F5-9864-13F4E9AC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00475"/>
            <a:ext cx="409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A equipe atualiza o atendimento.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6ACF8-89AB-4971-8AA1-8FC9DB7A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D17C79-2807-4338-86F2-D6214F7E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4815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Encerrar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DF894C-01BE-42A0-AD77-84CF9215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38675"/>
            <a:ext cx="409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A central registra o desfecho.</a:t>
            </a:r>
          </a:p>
        </p:txBody>
      </p:sp>
    </p:spTree>
    <p:extLst>
      <p:ext uri="{BB962C8B-B14F-4D97-AF65-F5344CB8AC3E}">
        <p14:creationId xmlns:p14="http://schemas.microsoft.com/office/powerpoint/2010/main" val="16308921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31262-4629-450D-85AB-C70BA440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localização orienta a prioridade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B8938-F481-4CF7-8A5C-822260C4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O mesmo pedido pode exigir atenção diferente conforme o território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FBFD0-0C32-4004-8322-914FB0A4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17B9C-C929-497B-8BC0-00DD573F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166FC-3634-48E1-B06A-FE038DF6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5715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Pedido dentro de uma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mancha de inundação ativa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739E4-4A35-4A3A-AB3A-649E4204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90825"/>
            <a:ext cx="4476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rPr>
              <a:t>Prioridade alta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rPr>
              <a:t>na triagem automática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428BA-5339-4E67-9435-E9289C71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Localização do dispositivo e áreas de risco cadastradas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ajudam a central a reconhecer o contexto da ocorrência.</a:t>
            </a:r>
          </a:p>
        </p:txBody>
      </p:sp>
    </p:spTree>
    <p:extLst>
      <p:ext uri="{BB962C8B-B14F-4D97-AF65-F5344CB8AC3E}">
        <p14:creationId xmlns:p14="http://schemas.microsoft.com/office/powerpoint/2010/main" val="20167178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2F5D2-CCE8-4202-B928-2906E6B4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Uma visão comum para a sala de crise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89ECA-9448-448E-8BF5-446AB701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O painel deve ajudar a coordenação a decidir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BAF53-EC41-4C8D-B847-92783A28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4AFFD-B047-43C3-AB65-FCB89BDC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C456F-0AA6-4CCC-8DBA-828A99AE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5048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Onde estão as demandas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que precisam de atenção?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A2A06-ED69-44FF-AAF7-DD9FD423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Quem assumiu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cada atendimento?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55040-9B64-40D3-A3D5-77670FAB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5048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 que impede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equipe de avançar?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085C3-A1C3-461A-840B-4189EAA7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 que já foi resolvido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e o que segue pendente?</a:t>
            </a:r>
          </a:p>
        </p:txBody>
      </p:sp>
    </p:spTree>
    <p:extLst>
      <p:ext uri="{BB962C8B-B14F-4D97-AF65-F5344CB8AC3E}">
        <p14:creationId xmlns:p14="http://schemas.microsoft.com/office/powerpoint/2010/main" val="1049949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F420D-98AF-43E2-8D77-49C24CA4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Uma família ilhada no bairro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8D06C-1318-4D51-9B66-F7E01C27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Exemplo ilustrativo do fluxo desejado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06BD2-B735-4B3A-8A9F-03F63EE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AB54C-9901-4B51-BDD3-CA2E2EAD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20EE3-C72C-4BBC-8883-6E4E99CA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O pedido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E45CB-B024-4A3C-BCC0-4140E55D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3381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família informa a situação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e a localização.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31912-7F51-4EF3-BFFB-B3C44751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71775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A decisão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5BF39-CE8E-40BC-9C8B-843D5C13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00425"/>
            <a:ext cx="3381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central avalia o risco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e define o atendimento.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BFDFA-8A65-4E55-9FCA-855BCEE8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71775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O acompanhamento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08783-A785-4EFE-8994-9658EE19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00425"/>
            <a:ext cx="3381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equipe atualiza o andamento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e a central registra o desfecho.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98182-3D16-442F-8425-7CBA979F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coordenação consegue consultar o caminho de cada pedido.</a:t>
            </a:r>
          </a:p>
        </p:txBody>
      </p:sp>
    </p:spTree>
    <p:extLst>
      <p:ext uri="{BB962C8B-B14F-4D97-AF65-F5344CB8AC3E}">
        <p14:creationId xmlns:p14="http://schemas.microsoft.com/office/powerpoint/2010/main" val="3579329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EEA9F-3E51-4F7D-B269-4C4C6C4B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Foco inicial e evolução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685FE-E100-43C8-B046-AE7FD350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O fluxo de ocorrências é o núcleo do produto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0372A-9178-464C-878C-B3431004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40C99-E88E-476E-AFC4-496397DD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381250"/>
          <a:ext xmlns:a="http://schemas.openxmlformats.org/drawingml/2006/main" cx="10668000" cy="3257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334000"/>
                <a:gridCol w="5334000"/>
              </a:tblGrid>
              <a:tr h="651510">
                <a:tc>
                  <a:txBody>
                    <a:bodyPr lIns="152400" tIns="152400" rIns="1524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Núcleo para o primeiro uso</a:t>
                      </a:r>
                    </a:p>
                  </a:txBody>
                  <a:tcPr marL="91440" marR="91440" marT="45720" marB="45720" anchor="t">
                    <a:solidFill>
                      <a:srgbClr val="102A43"/>
                    </a:solidFill>
                  </a:tcPr>
                </a:tc>
                <a:tc>
                  <a:txBody>
                    <a:bodyPr lIns="152400" tIns="152400" rIns="1524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Capacidades de evolução</a:t>
                      </a:r>
                    </a:p>
                  </a:txBody>
                  <a:tcPr marL="91440" marR="91440" marT="45720" marB="45720" anchor="t">
                    <a:solidFill>
                      <a:srgbClr val="102A43"/>
                    </a:solidFill>
                  </a:tcPr>
                </a:tc>
              </a:tr>
              <a:tr h="651510">
                <a:tc>
                  <a:txBody>
                    <a:bodyPr lIns="152400" tIns="152400" rIns="1524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Registro com localização do dispositivo</a:t>
                      </a:r>
                    </a:p>
                  </a:txBody>
                  <a:tcPr marL="91440" marR="91440" marT="45720" marB="45720" anchor="t">
                    <a:solidFill>
                      <a:srgbClr val="F5F5F0"/>
                    </a:solidFill>
                  </a:tcPr>
                </a:tc>
                <a:tc>
                  <a:txBody>
                    <a:bodyPr lIns="152400" tIns="152400" rIns="1524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Atribuição e disponibilidade de equipes</a:t>
                      </a:r>
                    </a:p>
                  </a:txBody>
                  <a:tcPr marL="91440" marR="91440" marT="45720" marB="45720" anchor="t">
                    <a:solidFill>
                      <a:srgbClr val="F5F5F0"/>
                    </a:solidFill>
                  </a:tcPr>
                </a:tc>
              </a:tr>
              <a:tr h="651510">
                <a:tc>
                  <a:txBody>
                    <a:bodyPr lIns="152400" tIns="152400" rIns="1524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Mapa e contexto de áreas de risco</a:t>
                      </a:r>
                    </a:p>
                  </a:txBody>
                  <a:tcPr marL="91440" marR="91440" marT="45720" marB="45720" anchor="t">
                    <a:solidFill>
                      <a:srgbClr val="F5F5F0"/>
                    </a:solidFill>
                  </a:tcPr>
                </a:tc>
                <a:tc>
                  <a:txBody>
                    <a:bodyPr lIns="152400" tIns="152400" rIns="1524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Abrigos, recursos e suprimentos</a:t>
                      </a:r>
                    </a:p>
                  </a:txBody>
                  <a:tcPr marL="91440" marR="91440" marT="45720" marB="45720" anchor="t">
                    <a:solidFill>
                      <a:srgbClr val="F5F5F0"/>
                    </a:solidFill>
                  </a:tcPr>
                </a:tc>
              </a:tr>
              <a:tr h="651510">
                <a:tc>
                  <a:txBody>
                    <a:bodyPr lIns="152400" tIns="152400" rIns="1524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Prioridade alta por mancha ativa</a:t>
                      </a:r>
                    </a:p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 alertas visuais na plataforma</a:t>
                      </a:r>
                    </a:p>
                  </a:txBody>
                  <a:tcPr marL="91440" marR="91440" marT="45720" marB="45720" anchor="t">
                    <a:solidFill>
                      <a:srgbClr val="F5F5F0"/>
                    </a:solidFill>
                  </a:tcPr>
                </a:tc>
                <a:tc>
                  <a:txBody>
                    <a:bodyPr lIns="152400" tIns="152400" rIns="1524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Voluntários e encaminhamento</a:t>
                      </a:r>
                    </a:p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 necessidades médicas</a:t>
                      </a:r>
                    </a:p>
                  </a:txBody>
                  <a:tcPr marL="91440" marR="91440" marT="45720" marB="45720" anchor="t">
                    <a:solidFill>
                      <a:srgbClr val="F5F5F0"/>
                    </a:solidFill>
                  </a:tcPr>
                </a:tc>
              </a:tr>
              <a:tr h="651510">
                <a:tc>
                  <a:txBody>
                    <a:bodyPr lIns="152400" tIns="152400" rIns="1524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Gestão das ocorrências e exportação CSV</a:t>
                      </a:r>
                    </a:p>
                  </a:txBody>
                  <a:tcPr marL="91440" marR="91440" marT="45720" marB="45720" anchor="t">
                    <a:solidFill>
                      <a:srgbClr val="F5F5F0"/>
                    </a:solidFill>
                  </a:tcPr>
                </a:tc>
                <a:tc>
                  <a:txBody>
                    <a:bodyPr lIns="152400" tIns="152400" rIns="1524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Agrupamento por crise em Evento / Incident</a:t>
                      </a:r>
                    </a:p>
                  </a:txBody>
                  <a:tcPr marL="91440" marR="91440" marT="45720" marB="45720" anchor="t">
                    <a:solidFill>
                      <a:srgbClr val="F5F5F0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F84AB-27B8-40F7-B3F9-C2DC7DBD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A prontidão operacional depende de validação com os responsáveis.</a:t>
            </a:r>
          </a:p>
        </p:txBody>
      </p:sp>
    </p:spTree>
    <p:extLst>
      <p:ext uri="{BB962C8B-B14F-4D97-AF65-F5344CB8AC3E}">
        <p14:creationId xmlns:p14="http://schemas.microsoft.com/office/powerpoint/2010/main" val="17075265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2381F-2115-4D06-814A-34DDD21B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Como demonstrar valor na operação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A6B5B-3F58-49D9-9C64-DFDBA428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Indicadores propostos para um exercício ou piloto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31F12-F0C0-432B-A454-C5061C13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065E4-527B-4631-B097-E5FD3898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2B00A-9A45-4578-A385-FC05D218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Tempo até a triagem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08D59-7907-4B33-8B5D-92FC200A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Quanto tempo leva para a central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avaliar um pedido?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93F9B-EF07-486C-9001-FAF59786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Tempo até a atribuição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25B24-8ED9-4E6B-97C9-37F6249A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43275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Quanto tempo leva para definir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quem vai atender?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6B6D5-B3E8-45F7-AAF4-996EAC73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Pedidos sem responsável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93FB2-A59C-4F9C-98D5-DDF81B91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Quantas demandas seguem abertas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sem alguém assumir?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5BFFA-5846-4F5C-BA84-C5FCAA52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386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Atendimentos com desfecho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5C60D-1438-4C59-8CC0-134F4CAC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67325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Que proporção termina com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 resultado registrado?</a:t>
            </a:r>
          </a:p>
        </p:txBody>
      </p:sp>
    </p:spTree>
    <p:extLst>
      <p:ext uri="{BB962C8B-B14F-4D97-AF65-F5344CB8AC3E}">
        <p14:creationId xmlns:p14="http://schemas.microsoft.com/office/powerpoint/2010/main" val="7603893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AB1CE-7F50-43E5-ACA4-F7D08AFA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Roadmap por etapas de validação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D8750-ABAF-4658-96C7-6EC61344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Uma sequência proposta, com avanço orientado pelo aprendizado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C5FB7-C0A7-4B77-A555-822207DD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8A29A-67DE-40F5-8525-B109EFB2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11961-4580-4EC2-9849-00E9F719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9073E-1443-4805-A3F0-471C4C1E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Entrada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confiável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DC449-8FF6-4AAB-B321-27715F5D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24003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Registro, localização,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mapa e contexto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de risco.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97B84-4625-4B2B-B765-9DB04110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Validar a entrada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e a triagem.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55BD1-D336-447B-A590-6C385BA3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00325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9EC5C-9AA5-4404-B9E8-0EE392FD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3375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Atendimento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coordenado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EFF43-5626-4CA8-B8A4-31164D55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371975"/>
            <a:ext cx="24003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Responsáveis, equipes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e atualização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do atendimento.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536D3-B654-455B-A75F-495CF846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54355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Validar o fluxo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até o desfecho.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23D4E-61F3-4C11-9F3A-CADD9D73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00325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11C56-5EF0-48FC-BEAE-D00CC351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3375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Meios 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resposta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E8438-6D10-4802-A6E6-84EA79FF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71975"/>
            <a:ext cx="24003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Abrigos, recursos,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suprimentos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e voluntários.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15296-9324-4E83-8065-1A86E852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43550"/>
            <a:ext cx="2400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Validar decisões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sobre os recursos.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706018-0A21-4CC8-8C9A-DBDF3530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00325"/>
            <a:ext cx="2466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AF451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F29C32-7E47-4EC8-89DC-D9302A40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333750"/>
            <a:ext cx="24669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Visão integrada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da crise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A635F-34D9-48CE-8C67-FC771F4A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371975"/>
            <a:ext cx="24669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Evento / Incident,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sala de crise 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8616C"/>
                </a:solidFill>
                <a:latin typeface="Helvetica Neue"/>
                <a:ea typeface="Helvetica Neue"/>
                <a:cs typeface="Helvetica Neue"/>
              </a:rPr>
              <a:t>análise da operação.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B08F8-49FB-4757-9489-B8C53BF2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543550"/>
            <a:ext cx="2466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Validar a visão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compartilhada.</a:t>
            </a:r>
          </a:p>
        </p:txBody>
      </p:sp>
    </p:spTree>
    <p:extLst>
      <p:ext uri="{BB962C8B-B14F-4D97-AF65-F5344CB8AC3E}">
        <p14:creationId xmlns:p14="http://schemas.microsoft.com/office/powerpoint/2010/main" val="18233081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95f9386494e6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862B3-BA91-4CDA-A19B-1560B0B6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DD4DC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A3B3F-D19E-482E-A601-6C78C9F1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A27FF-9E0E-4943-83AD-19B9DC7B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7000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Onde o GeoAlerta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pode chegar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019DA-1A89-4CFA-963F-F4D94F29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685800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Uma visão da crise inteira,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 cada atendimento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conectado à operação.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BE235-C991-4262-B109-FD9FEBD1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7429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rPr>
              <a:t>Demandas e prioridades no território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rPr>
              <a:t>Equipes e recursos sob a mesma coordenação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rPr>
              <a:t>Histórico para aprender após a crise</a:t>
            </a:r>
          </a:p>
        </p:txBody>
      </p:sp>
    </p:spTree>
    <p:extLst>
      <p:ext uri="{BB962C8B-B14F-4D97-AF65-F5344CB8AC3E}">
        <p14:creationId xmlns:p14="http://schemas.microsoft.com/office/powerpoint/2010/main" val="11886487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6A070-FD08-44D6-8B89-81B3F8DD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Próximo passo: validar com a operação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908F1-F28C-4DEA-8756-6FBD2C66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rPr>
              <a:t>Um exercício ou piloto com Defesa Civil e Bombeiros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8648F-F647-452A-935E-80410484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DD4DC"/>
                </a:solidFill>
                <a:latin typeface="Helvetica Neue"/>
                <a:ea typeface="Helvetica Neue"/>
                <a:cs typeface="Helvetica Neue"/>
              </a:rPr>
              <a:t>GeoAlerta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78E0D-6BAE-40F2-A6AC-796AFF18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DD4DC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2323C-FE90-49F1-BA1B-56AFE539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EF77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F773D"/>
                </a:solidFill>
                <a:latin typeface="Helvetica Neue"/>
                <a:ea typeface="Helvetica Neue"/>
                <a:cs typeface="Helvetica Neue"/>
              </a:rPr>
              <a:t>Preparar o cenário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2E3A6-AE84-49D7-9C69-B7699C13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Definir a situação prioritária,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os canais e os responsáveis.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F375F-7CCB-4A4F-824E-ED22247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EF77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F773D"/>
                </a:solidFill>
                <a:latin typeface="Helvetica Neue"/>
                <a:ea typeface="Helvetica Neue"/>
                <a:cs typeface="Helvetica Neue"/>
              </a:rPr>
              <a:t>Avaliar o atendimento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52F73-9B7D-4115-9EF8-BF5A2822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Percorrer o fluxo e medir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onde a resposta ganha continuidade.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D2B79-D4A7-4715-829D-52F608A2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visão de futuro começa com um pedido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0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que a operação consegue acompanhar.</a:t>
            </a:r>
          </a:p>
        </p:txBody>
      </p:sp>
    </p:spTree>
    <p:extLst>
      <p:ext uri="{BB962C8B-B14F-4D97-AF65-F5344CB8AC3E}">
        <p14:creationId xmlns:p14="http://schemas.microsoft.com/office/powerpoint/2010/main" val="1161015518"/>
      </p:ext>
    </p:extLst>
  </p:cSld>
</p:sld>
</file>

<file path=ppt/theme/theme1.xml><?xml version="1.0" encoding="utf-8"?>
<a:theme xmlns:a="http://schemas.openxmlformats.org/drawingml/2006/main" name="ChatGPT">
  <a:themeElements>
    <a:clrScheme name="GeoAlerta">
      <a:dk1>
        <a:srgbClr val="102A43"/>
      </a:dk1>
      <a:lt1>
        <a:srgbClr val="FFFFFF"/>
      </a:lt1>
      <a:dk2>
        <a:srgbClr val="48616C"/>
      </a:dk2>
      <a:lt2>
        <a:srgbClr val="F5F5F0"/>
      </a:lt2>
      <a:accent1>
        <a:srgbClr val="087F8C"/>
      </a:accent1>
      <a:accent2>
        <a:srgbClr val="EF773D"/>
      </a:accent2>
      <a:accent3>
        <a:srgbClr val="102A43"/>
      </a:accent3>
      <a:accent4>
        <a:srgbClr val="AF451A"/>
      </a:accent4>
      <a:accent5>
        <a:srgbClr val="48616C"/>
      </a:accent5>
      <a:accent6>
        <a:srgbClr val="BDD4DC"/>
      </a:accent6>
      <a:hlink>
        <a:srgbClr val="087F8C"/>
      </a:hlink>
      <a:folHlink>
        <a:srgbClr val="AF451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oAlert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2026-10-06T00:52:06.1020000Z</dcterms:created>
  <dcterms:modified xsi:type="dcterms:W3CDTF">2026-10-06T00:52:06.1020000Z</dcterms:modified>
</coreProperties>
</file>